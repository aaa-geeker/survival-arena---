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FF6B8A"/>
                </a:solidFill>
                <a:latin typeface="微软雅黑"/>
              </a:rPr>
              <a:t>浏览器即玩 · 无需下载 · 手机电脑双端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5000" b="1">
                <a:solidFill>
                  <a:srgbClr val="E8EBF2"/>
                </a:solidFill>
                <a:latin typeface="微软雅黑"/>
              </a:rPr>
              <a:t>🔥 生存竞技场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3000" b="1">
                <a:solidFill>
                  <a:srgbClr val="FF6B8A"/>
                </a:solidFill>
                <a:latin typeface="微软雅黑"/>
              </a:rPr>
              <a:t>Survival Arena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9052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98A2B8"/>
                </a:solidFill>
                <a:latin typeface="微软雅黑"/>
              </a:rPr>
              <a:t>一款用原生 JavaScript + Canvas 从零手写的 2D 俯视角波次生存射击游戏。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98A2B8"/>
                </a:solidFill>
                <a:latin typeface="微软雅黑"/>
              </a:rPr>
              <a:t>不用下载、不用安装，打开浏览器就能玩——手机和电脑都能玩，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98A2B8"/>
                </a:solidFill>
                <a:latin typeface="微软雅黑"/>
              </a:rPr>
              <a:t>死了还能让好友把你救回来。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892040"/>
            <a:ext cx="1918048" cy="384048"/>
          </a:xfrm>
          <a:prstGeom prst="roundRect">
            <a:avLst>
              <a:gd name="adj" fmla="val 35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892040"/>
            <a:ext cx="1918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浏览器 / 手机 / 电脑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60464" y="4892040"/>
            <a:ext cx="1092048" cy="384048"/>
          </a:xfrm>
          <a:prstGeom prst="roundRect">
            <a:avLst>
              <a:gd name="adj" fmla="val 35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60464" y="4892040"/>
            <a:ext cx="1092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波次生存射击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80528" y="4892040"/>
            <a:ext cx="3334048" cy="384048"/>
          </a:xfrm>
          <a:prstGeom prst="roundRect">
            <a:avLst>
              <a:gd name="adj" fmla="val 35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80528" y="4892040"/>
            <a:ext cx="333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4 武器 · 5 敌人 · 6 皮肤 · 5 段位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42592" y="4892040"/>
            <a:ext cx="974048" cy="384048"/>
          </a:xfrm>
          <a:prstGeom prst="roundRect">
            <a:avLst>
              <a:gd name="adj" fmla="val 35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42592" y="4892040"/>
            <a:ext cx="97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已上线可玩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6928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34D399"/>
                </a:solidFill>
                <a:latin typeface="微软雅黑"/>
              </a:rPr>
              <a:t>▶ 立刻开始游玩：https://survival-arena.com/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303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94560"/>
                </a:solidFill>
                <a:latin typeface="微软雅黑"/>
              </a:rPr>
              <a:t>01 / 这是个什么游戏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7772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8EBF2"/>
                </a:solidFill>
                <a:latin typeface="微软雅黑"/>
              </a:rPr>
              <a:t>一句话说清：点开就打的爽快小游戏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4358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>
                <a:solidFill>
                  <a:srgbClr val="98A2B8"/>
                </a:solidFill>
                <a:latin typeface="微软雅黑"/>
              </a:rPr>
              <a:t>没有下载、没有安装、没有冗长注册。打开网页，WASD 走动、鼠标瞄准射击，一波波敌人冲上来，撑得越久越强。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783080"/>
            <a:ext cx="1673352" cy="914400"/>
          </a:xfrm>
          <a:prstGeom prst="roundRect">
            <a:avLst>
              <a:gd name="adj" fmla="val 6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783080"/>
            <a:ext cx="1673352" cy="411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42416" y="1929384"/>
            <a:ext cx="1307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E8EBF2"/>
                </a:solidFill>
                <a:latin typeface="微软雅黑"/>
              </a:rPr>
              <a:t>0 安装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2286000"/>
            <a:ext cx="13075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浏览器打开即玩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" y="2468880"/>
            <a:ext cx="13075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B7488"/>
                </a:solidFill>
                <a:latin typeface="微软雅黑"/>
              </a:rPr>
              <a:t>手机电脑通用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42616" y="1783080"/>
            <a:ext cx="1673352" cy="914400"/>
          </a:xfrm>
          <a:prstGeom prst="roundRect">
            <a:avLst>
              <a:gd name="adj" fmla="val 6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42616" y="1783080"/>
            <a:ext cx="1673352" cy="411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43784" y="1929384"/>
            <a:ext cx="1307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E8EBF2"/>
                </a:solidFill>
                <a:latin typeface="微软雅黑"/>
              </a:rPr>
              <a:t>4 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43784" y="2286000"/>
            <a:ext cx="13075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武器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3784" y="2468880"/>
            <a:ext cx="13075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B7488"/>
                </a:solidFill>
                <a:latin typeface="微软雅黑"/>
              </a:rPr>
              <a:t>手枪/霰弹/冲锋/狙击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43984" y="1783080"/>
            <a:ext cx="1673352" cy="914400"/>
          </a:xfrm>
          <a:prstGeom prst="roundRect">
            <a:avLst>
              <a:gd name="adj" fmla="val 6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43984" y="1783080"/>
            <a:ext cx="1673352" cy="411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45152" y="1929384"/>
            <a:ext cx="1307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E8EBF2"/>
                </a:solidFill>
                <a:latin typeface="微软雅黑"/>
              </a:rPr>
              <a:t>5 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2" y="2286000"/>
            <a:ext cx="13075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敌人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45152" y="2468880"/>
            <a:ext cx="13075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B7488"/>
                </a:solidFill>
                <a:latin typeface="微软雅黑"/>
              </a:rPr>
              <a:t>每 5 波一个 BOSS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2834640"/>
            <a:ext cx="1673352" cy="914400"/>
          </a:xfrm>
          <a:prstGeom prst="roundRect">
            <a:avLst>
              <a:gd name="adj" fmla="val 6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1248" y="2834640"/>
            <a:ext cx="1673352" cy="411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42416" y="2980944"/>
            <a:ext cx="1307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E8EBF2"/>
                </a:solidFill>
                <a:latin typeface="微软雅黑"/>
              </a:rPr>
              <a:t>6 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2416" y="3337560"/>
            <a:ext cx="13075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皮肤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6" y="3520440"/>
            <a:ext cx="13075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B7488"/>
                </a:solidFill>
                <a:latin typeface="微软雅黑"/>
              </a:rPr>
              <a:t>4 个稀有度梯度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42616" y="2834640"/>
            <a:ext cx="1673352" cy="914400"/>
          </a:xfrm>
          <a:prstGeom prst="roundRect">
            <a:avLst>
              <a:gd name="adj" fmla="val 6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42616" y="2834640"/>
            <a:ext cx="1673352" cy="411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43784" y="2980944"/>
            <a:ext cx="1307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E8EBF2"/>
                </a:solidFill>
                <a:latin typeface="微软雅黑"/>
              </a:rPr>
              <a:t>12 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43784" y="3337560"/>
            <a:ext cx="13075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成就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43784" y="3520440"/>
            <a:ext cx="13075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B7488"/>
                </a:solidFill>
                <a:latin typeface="微软雅黑"/>
              </a:rPr>
              <a:t>另有每日挑战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43984" y="2834640"/>
            <a:ext cx="1673352" cy="914400"/>
          </a:xfrm>
          <a:prstGeom prst="roundRect">
            <a:avLst>
              <a:gd name="adj" fmla="val 6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43984" y="2834640"/>
            <a:ext cx="1673352" cy="411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45152" y="2980944"/>
            <a:ext cx="130759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>
                <a:solidFill>
                  <a:srgbClr val="E8EBF2"/>
                </a:solidFill>
                <a:latin typeface="微软雅黑"/>
              </a:rPr>
              <a:t>4 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45152" y="3337560"/>
            <a:ext cx="13075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复活方式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45152" y="3520440"/>
            <a:ext cx="130759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B7488"/>
                </a:solidFill>
                <a:latin typeface="微软雅黑"/>
              </a:rPr>
              <a:t>含跨设备好友复活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36208" y="1783080"/>
            <a:ext cx="5120640" cy="1965960"/>
          </a:xfrm>
          <a:prstGeom prst="roundRect">
            <a:avLst>
              <a:gd name="adj" fmla="val 3000"/>
            </a:avLst>
          </a:prstGeom>
          <a:solidFill>
            <a:srgbClr val="1C2130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02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0785" y="1874519"/>
            <a:ext cx="3171486" cy="17830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41248" y="3977639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FF6B8A"/>
                </a:solidFill>
                <a:latin typeface="微软雅黑"/>
              </a:rPr>
              <a:t>主菜单：所有功能收在一个界面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>
                <a:solidFill>
                  <a:srgbClr val="98A2B8"/>
                </a:solidFill>
                <a:latin typeface="微软雅黑"/>
              </a:rPr>
              <a:t>开始战斗、装备升级、每日奖励、排行榜、皮肤——进来就知道该点哪。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1248" y="4572000"/>
            <a:ext cx="5120640" cy="1463040"/>
          </a:xfrm>
          <a:prstGeom prst="roundRect">
            <a:avLst>
              <a:gd name="adj" fmla="val 3000"/>
            </a:avLst>
          </a:prstGeom>
          <a:solidFill>
            <a:srgbClr val="1C2130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01-log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3086" y="4663440"/>
            <a:ext cx="2276964" cy="1280160"/>
          </a:xfrm>
          <a:prstGeom prst="rect">
            <a:avLst/>
          </a:prstGeom>
        </p:spPr>
      </p:pic>
      <p:sp>
        <p:nvSpPr>
          <p:cNvPr id="42" name="Rounded Rectangle 41"/>
          <p:cNvSpPr/>
          <p:nvPr/>
        </p:nvSpPr>
        <p:spPr>
          <a:xfrm>
            <a:off x="6236208" y="4572000"/>
            <a:ext cx="5120640" cy="1463040"/>
          </a:xfrm>
          <a:prstGeom prst="roundRect">
            <a:avLst>
              <a:gd name="adj" fmla="val 3000"/>
            </a:avLst>
          </a:prstGeom>
          <a:solidFill>
            <a:srgbClr val="1C2130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361" y="4663440"/>
            <a:ext cx="658334" cy="128016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841248" y="612648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B7488"/>
                </a:solidFill>
                <a:latin typeface="微软雅黑"/>
              </a:rPr>
              <a:t>左：登录界面（首次登录自动注册）　　右：线上数据看板（实时读取埋点数据）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303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94560"/>
                </a:solidFill>
                <a:latin typeface="微软雅黑"/>
              </a:rPr>
              <a:t>02 / 怎么玩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7772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8EBF2"/>
                </a:solidFill>
                <a:latin typeface="微软雅黑"/>
              </a:rPr>
              <a:t>从打开到变强，五步走完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4358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>
                <a:solidFill>
                  <a:srgbClr val="98A2B8"/>
                </a:solidFill>
                <a:latin typeface="微软雅黑"/>
              </a:rPr>
              <a:t>整个游戏循环：进去 → 打 → 变强 → 再来一局。每一步都有明确的正反馈。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73736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737360"/>
            <a:ext cx="45720" cy="86868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51560" y="1975104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C2130"/>
          </a:solidFill>
          <a:ln w="9525">
            <a:solidFill>
              <a:srgbClr val="E9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197510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6B8A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865376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E8EBF2"/>
                </a:solidFill>
                <a:latin typeface="微软雅黑"/>
              </a:rPr>
              <a:t>登录进入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2167128"/>
            <a:ext cx="9509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手机号验证码或邮箱登录，首次登录自动注册，几秒进游戏；数据云端同步，换设备接着玩。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" y="2706624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2706624"/>
            <a:ext cx="45720" cy="86868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51560" y="2944368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C2130"/>
          </a:solidFill>
          <a:ln w="9525">
            <a:solidFill>
              <a:srgbClr val="E9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294436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6B8A"/>
                </a:solidFill>
                <a:latin typeface="微软雅黑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7632" y="2834640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E8EBF2"/>
                </a:solidFill>
                <a:latin typeface="微软雅黑"/>
              </a:rPr>
              <a:t>开始战斗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7632" y="3136392"/>
            <a:ext cx="9509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电脑 WASD + 鼠标瞄准，空格冲刺；手机虚拟摇杆 + 射击键，滑动闪避。第一波敌人很温和。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3675888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3675888"/>
            <a:ext cx="45720" cy="86868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51560" y="3913632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C2130"/>
          </a:solidFill>
          <a:ln w="9525">
            <a:solidFill>
              <a:srgbClr val="E9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391363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6B8A"/>
                </a:solidFill>
                <a:latin typeface="微软雅黑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7632" y="380390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E8EBF2"/>
                </a:solidFill>
                <a:latin typeface="微软雅黑"/>
              </a:rPr>
              <a:t>击杀敌人收集星星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27632" y="4105656"/>
            <a:ext cx="9509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击杀掉落 ⭐ 星星，波次清空也有奖励；星星用来买装备、升武器，连杀有额外奖励。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4645152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1248" y="4645152"/>
            <a:ext cx="45720" cy="86868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51560" y="4882896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C2130"/>
          </a:solidFill>
          <a:ln w="9525">
            <a:solidFill>
              <a:srgbClr val="E9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488289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6B8A"/>
                </a:solidFill>
                <a:latin typeface="微软雅黑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27632" y="4773168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E8EBF2"/>
                </a:solidFill>
                <a:latin typeface="微软雅黑"/>
              </a:rPr>
              <a:t>每 5 波打 BOSS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27632" y="5074920"/>
            <a:ext cx="9509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敌人越来越强；第 5/10/15/20 波是 BOSS 战，血厚 + 远程弹幕 + 带护卫小兵。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" y="5614416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41248" y="5614416"/>
            <a:ext cx="45720" cy="86868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51560" y="5852160"/>
            <a:ext cx="384048" cy="384048"/>
          </a:xfrm>
          <a:prstGeom prst="roundRect">
            <a:avLst>
              <a:gd name="adj" fmla="val 20000"/>
            </a:avLst>
          </a:prstGeom>
          <a:solidFill>
            <a:srgbClr val="1C2130"/>
          </a:solidFill>
          <a:ln w="9525">
            <a:solidFill>
              <a:srgbClr val="E9456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585216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FF6B8A"/>
                </a:solidFill>
                <a:latin typeface="微软雅黑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27632" y="574243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E8EBF2"/>
                </a:solidFill>
                <a:latin typeface="微软雅黑"/>
              </a:rPr>
              <a:t>阵亡 → 复活 → 变强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27632" y="6044184"/>
            <a:ext cx="95097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可看广告/用令牌/花钻石/邀好友复活；金币钻石跨局累积，永久提升属性，下局更强。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303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94560"/>
                </a:solidFill>
                <a:latin typeface="微软雅黑"/>
              </a:rPr>
              <a:t>02 / 怎么玩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7772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8EBF2"/>
                </a:solidFill>
                <a:latin typeface="微软雅黑"/>
              </a:rPr>
              <a:t>真实战斗画面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691640"/>
            <a:ext cx="5120640" cy="4343400"/>
          </a:xfrm>
          <a:prstGeom prst="roundRect">
            <a:avLst>
              <a:gd name="adj" fmla="val 3000"/>
            </a:avLst>
          </a:prstGeom>
          <a:solidFill>
            <a:srgbClr val="1C2130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7-bat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229531"/>
            <a:ext cx="4901184" cy="275555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24128" y="551383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E8EBF2"/>
                </a:solidFill>
                <a:latin typeface="微软雅黑"/>
              </a:rPr>
              <a:t>开局　</a:t>
            </a:r>
            <a:r>
              <a:rPr sz="1050" b="0">
                <a:solidFill>
                  <a:srgbClr val="98A2B8"/>
                </a:solidFill>
                <a:latin typeface="微软雅黑"/>
              </a:rPr>
              <a:t>手枪起步，敌人从四周涌来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1691640"/>
            <a:ext cx="5120640" cy="4343400"/>
          </a:xfrm>
          <a:prstGeom prst="roundRect">
            <a:avLst>
              <a:gd name="adj" fmla="val 3000"/>
            </a:avLst>
          </a:prstGeom>
          <a:solidFill>
            <a:srgbClr val="1C2130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10-comb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1656" y="2229531"/>
            <a:ext cx="4901184" cy="27555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64808" y="5513832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E8EBF2"/>
                </a:solidFill>
                <a:latin typeface="微软雅黑"/>
              </a:rPr>
              <a:t>混战　</a:t>
            </a:r>
            <a:r>
              <a:rPr sz="1050" b="0">
                <a:solidFill>
                  <a:srgbClr val="98A2B8"/>
                </a:solidFill>
                <a:latin typeface="微软雅黑"/>
              </a:rPr>
              <a:t>屏幕震动 + 粒子特效，越打越密集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303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94560"/>
                </a:solidFill>
                <a:latin typeface="微软雅黑"/>
              </a:rPr>
              <a:t>03 / 核心功能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7772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8EBF2"/>
                </a:solidFill>
                <a:latin typeface="微软雅黑"/>
              </a:rPr>
              <a:t>六个撑起整个游戏的系统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4358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>
                <a:solidFill>
                  <a:srgbClr val="98A2B8"/>
                </a:solidFill>
                <a:latin typeface="微软雅黑"/>
              </a:rPr>
              <a:t>每个功能都解决一个具体问题，而不是「为了有而有」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737360"/>
            <a:ext cx="5120640" cy="2148840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737360"/>
            <a:ext cx="45720" cy="214884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E8EBF2"/>
                </a:solidFill>
                <a:latin typeface="微软雅黑"/>
              </a:rPr>
              <a:t>🔫 武器系统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249424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6B8A"/>
                </a:solidFill>
                <a:latin typeface="微软雅黑"/>
              </a:rPr>
              <a:t>四种枪，各有一套升级树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578608"/>
            <a:ext cx="4617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手枪免费起手，霰弹枪 200⭐ / 冲锋枪 350⭐ / 狙击枪 500⭐；解锁后永久拥有、跨局保留，每把 3 条升级路线各 10 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737360"/>
            <a:ext cx="5120640" cy="2148840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6208" y="1737360"/>
            <a:ext cx="45720" cy="214884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E8EBF2"/>
                </a:solidFill>
                <a:latin typeface="微软雅黑"/>
              </a:rPr>
              <a:t>💰 三货币经济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249424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6B8A"/>
                </a:solidFill>
                <a:latin typeface="微软雅黑"/>
              </a:rPr>
              <a:t>每种钱花在不同地方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578608"/>
            <a:ext cx="4617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⭐星星管这一局（买装备升武器）、🪙金币管长期（永久属性）、💎钻石管外观与便利（皮肤/复活）。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" y="4069080"/>
            <a:ext cx="5120640" cy="2148840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1248" y="4069080"/>
            <a:ext cx="45720" cy="214884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2519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E8EBF2"/>
                </a:solidFill>
                <a:latin typeface="微软雅黑"/>
              </a:rPr>
              <a:t>🎨 皮肤系统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581144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6B8A"/>
                </a:solidFill>
                <a:latin typeface="微软雅黑"/>
              </a:rPr>
              <a:t>6 款皮肤，4 个稀有度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910328"/>
            <a:ext cx="4617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普通/稀有/史诗/传说四档，价格 60–200💎；全部 Canvas 程序化绘制，商店卡片是实时动效预览。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6208" y="4069080"/>
            <a:ext cx="5120640" cy="2148840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6208" y="4069080"/>
            <a:ext cx="45720" cy="214884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425196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E8EBF2"/>
                </a:solidFill>
                <a:latin typeface="微软雅黑"/>
              </a:rPr>
              <a:t>🤝 好友复活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581144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6B8A"/>
                </a:solidFill>
                <a:latin typeface="微软雅黑"/>
              </a:rPr>
              <a:t>死了发个链接，朋友把你捞回来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910328"/>
            <a:ext cx="4617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阵亡生成专属链接，好友点开即满血复活 + 3 秒无敌；跨设备互通，双方都有奖励。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" y="6400800"/>
            <a:ext cx="5120640" cy="2148840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1248" y="6400800"/>
            <a:ext cx="45720" cy="214884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65836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E8EBF2"/>
                </a:solidFill>
                <a:latin typeface="微软雅黑"/>
              </a:rPr>
              <a:t>🏆 成长与竞争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6912864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6B8A"/>
                </a:solidFill>
                <a:latin typeface="微软雅黑"/>
              </a:rPr>
              <a:t>段位、成就、每日挑战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7242048"/>
            <a:ext cx="4617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5 大段位按最高波次解锁（青铜→传说）；12 项成就 + 每日挑战 + 7 天连签。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36208" y="6400800"/>
            <a:ext cx="5120640" cy="2148840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6208" y="6400800"/>
            <a:ext cx="45720" cy="214884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658368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E8EBF2"/>
                </a:solidFill>
                <a:latin typeface="微软雅黑"/>
              </a:rPr>
              <a:t>📱 手机完整适配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6912864"/>
            <a:ext cx="4572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6B8A"/>
                </a:solidFill>
                <a:latin typeface="微软雅黑"/>
              </a:rPr>
              <a:t>不是「能打开」，是「玩得爽」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7242048"/>
            <a:ext cx="4617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虚拟摇杆 + 触控瞄准 + 滑动手势闪避 + 刘海屏安全区 + 性能自动降级保帧率。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303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94560"/>
                </a:solidFill>
                <a:latin typeface="微软雅黑"/>
              </a:rPr>
              <a:t>03 / 核心功能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7772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8EBF2"/>
                </a:solidFill>
                <a:latin typeface="微软雅黑"/>
              </a:rPr>
              <a:t>武器系统：四种枪，各有一套升级树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4358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>
                <a:solidFill>
                  <a:srgbClr val="98A2B8"/>
                </a:solidFill>
                <a:latin typeface="微软雅黑"/>
              </a:rPr>
              <a:t>解锁后永久拥有、跨局保留；每把枪 3 条独立升级路线（伤害 / 射速 / 特殊），最高各 10 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1828800"/>
            <a:ext cx="10515600" cy="384048"/>
          </a:xfrm>
          <a:prstGeom prst="rect">
            <a:avLst/>
          </a:prstGeom>
          <a:solidFill>
            <a:srgbClr val="1C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21945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6B7488"/>
                </a:solidFill>
                <a:latin typeface="微软雅黑"/>
              </a:rPr>
              <a:t>武器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828800"/>
            <a:ext cx="1828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6B7488"/>
                </a:solidFill>
                <a:latin typeface="微软雅黑"/>
              </a:rPr>
              <a:t>解锁费用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828800"/>
            <a:ext cx="45720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6B7488"/>
                </a:solidFill>
                <a:latin typeface="微软雅黑"/>
              </a:rPr>
              <a:t>特点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1828800"/>
            <a:ext cx="19202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6B7488"/>
                </a:solidFill>
                <a:latin typeface="微软雅黑"/>
              </a:rPr>
              <a:t>约需局数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2212848"/>
            <a:ext cx="10515600" cy="658368"/>
          </a:xfrm>
          <a:prstGeom prst="rect">
            <a:avLst/>
          </a:prstGeom>
          <a:solidFill>
            <a:srgbClr val="16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212848"/>
            <a:ext cx="2194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E8EBF2"/>
                </a:solidFill>
                <a:latin typeface="微软雅黑"/>
              </a:rPr>
              <a:t>🔫 手枪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212848"/>
            <a:ext cx="1828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免费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212848"/>
            <a:ext cx="4572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平衡型，1 发弹丸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2212848"/>
            <a:ext cx="19202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初始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2871216"/>
            <a:ext cx="10515600" cy="658368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2871216"/>
            <a:ext cx="2194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E8EBF2"/>
                </a:solidFill>
                <a:latin typeface="微软雅黑"/>
              </a:rPr>
              <a:t>💥 霰弹枪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871216"/>
            <a:ext cx="1828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200 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871216"/>
            <a:ext cx="4572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5 发扇形散射，近距离威力巨大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0" y="2871216"/>
            <a:ext cx="19202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2–3 局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" y="3529584"/>
            <a:ext cx="10515600" cy="658368"/>
          </a:xfrm>
          <a:prstGeom prst="rect">
            <a:avLst/>
          </a:prstGeom>
          <a:solidFill>
            <a:srgbClr val="16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529584"/>
            <a:ext cx="2194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E8EBF2"/>
                </a:solidFill>
                <a:latin typeface="微软雅黑"/>
              </a:rPr>
              <a:t>⚡ 冲锋枪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3529584"/>
            <a:ext cx="1828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350 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3529584"/>
            <a:ext cx="4572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极高射速，弹幕压制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529584"/>
            <a:ext cx="19202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3–4 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4187952"/>
            <a:ext cx="10515600" cy="658368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4187952"/>
            <a:ext cx="219456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E8EBF2"/>
                </a:solidFill>
                <a:latin typeface="微软雅黑"/>
              </a:rPr>
              <a:t>🎯 狙击枪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187952"/>
            <a:ext cx="18288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500 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4187952"/>
            <a:ext cx="45720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3 倍伤害，一击制敌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0" y="4187952"/>
            <a:ext cx="19202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5–6 局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1248" y="4800600"/>
            <a:ext cx="10515600" cy="1463040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A855F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4956048"/>
            <a:ext cx="996696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1">
                <a:solidFill>
                  <a:srgbClr val="A855F7"/>
                </a:solidFill>
                <a:latin typeface="微软雅黑"/>
              </a:rPr>
              <a:t>设计意图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星星是局内货币，买到的武器却跨局保留——这让「这一局打得不好」不会白费，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每一局都在为解锁下一把枪积累进度。四个价格档位（免费 / 2–3 局 / 3–4 局 / 5–6 局）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刚好构成一条「越玩越有」的成长节奏。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303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94560"/>
                </a:solidFill>
                <a:latin typeface="微软雅黑"/>
              </a:rPr>
              <a:t>03 / 核心功能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7772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8EBF2"/>
                </a:solidFill>
                <a:latin typeface="微软雅黑"/>
              </a:rPr>
              <a:t>三货币经济：每种钱花在不同的地方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783080"/>
            <a:ext cx="10515600" cy="384048"/>
          </a:xfrm>
          <a:prstGeom prst="rect">
            <a:avLst/>
          </a:prstGeom>
          <a:solidFill>
            <a:srgbClr val="1C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828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6B7488"/>
                </a:solidFill>
                <a:latin typeface="微软雅黑"/>
              </a:rPr>
              <a:t>货币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34640" y="1783080"/>
            <a:ext cx="182880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6B7488"/>
                </a:solidFill>
                <a:latin typeface="微软雅黑"/>
              </a:rPr>
              <a:t>范围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783080"/>
            <a:ext cx="34747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6B7488"/>
                </a:solidFill>
                <a:latin typeface="微软雅黑"/>
              </a:rPr>
              <a:t>怎么来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783080"/>
            <a:ext cx="33832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6B7488"/>
                </a:solidFill>
                <a:latin typeface="微软雅黑"/>
              </a:rPr>
              <a:t>用来做什么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2167128"/>
            <a:ext cx="10515600" cy="713232"/>
          </a:xfrm>
          <a:prstGeom prst="rect">
            <a:avLst/>
          </a:prstGeom>
          <a:solidFill>
            <a:srgbClr val="16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167128"/>
            <a:ext cx="1828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EBF2"/>
                </a:solidFill>
                <a:latin typeface="微软雅黑"/>
              </a:rPr>
              <a:t>⭐ 星星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167128"/>
            <a:ext cx="1828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局内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2167128"/>
            <a:ext cx="34747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击杀敌人、清波奖励、连杀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2167128"/>
            <a:ext cx="3383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买装备、升武器（跨局保留）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2880360"/>
            <a:ext cx="10515600" cy="713232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2880360"/>
            <a:ext cx="1828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EBF2"/>
                </a:solidFill>
                <a:latin typeface="微软雅黑"/>
              </a:rPr>
              <a:t>🪙 金币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880360"/>
            <a:ext cx="1828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跨局累积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880360"/>
            <a:ext cx="34747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签到、每日挑战、钻石兑换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880360"/>
            <a:ext cx="3383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永久提升角色属性、买自动射击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3593592"/>
            <a:ext cx="10515600" cy="713232"/>
          </a:xfrm>
          <a:prstGeom prst="rect">
            <a:avLst/>
          </a:prstGeom>
          <a:solidFill>
            <a:srgbClr val="16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3593592"/>
            <a:ext cx="1828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EBF2"/>
                </a:solidFill>
                <a:latin typeface="微软雅黑"/>
              </a:rPr>
              <a:t>💎 钻石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593592"/>
            <a:ext cx="18288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跨局累积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593592"/>
            <a:ext cx="347472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充值、签到奖励、成就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593592"/>
            <a:ext cx="33832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买皮肤、复活、兑换金币/星星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" y="4434840"/>
            <a:ext cx="10515600" cy="1051560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34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457200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1">
                <a:solidFill>
                  <a:srgbClr val="34D399"/>
                </a:solidFill>
                <a:latin typeface="微软雅黑"/>
              </a:rPr>
              <a:t>设计意图</a:t>
            </a:r>
            <a:r>
              <a:rPr sz="1100" b="0">
                <a:solidFill>
                  <a:srgbClr val="98A2B8"/>
                </a:solidFill>
                <a:latin typeface="微软雅黑"/>
              </a:rPr>
              <a:t>：三种货币各管一段——星星管「这一局怎么打」，金币管「长期怎么变强」，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钻石管「外观和便利」。这样玩家每一局都有收获，又不会因为一局打崩就白玩。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1248" y="5623560"/>
            <a:ext cx="10515600" cy="685800"/>
          </a:xfrm>
          <a:prstGeom prst="roundRect">
            <a:avLst>
              <a:gd name="adj" fmla="val 6000"/>
            </a:avLst>
          </a:prstGeom>
          <a:solidFill>
            <a:srgbClr val="1C2130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5623560"/>
            <a:ext cx="996696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FF6B8A"/>
                </a:solidFill>
                <a:latin typeface="微软雅黑"/>
              </a:rPr>
              <a:t>常用道具：</a:t>
            </a:r>
            <a:r>
              <a:rPr sz="1100" b="0">
                <a:solidFill>
                  <a:srgbClr val="98A2B8"/>
                </a:solidFill>
                <a:latin typeface="微软雅黑"/>
              </a:rPr>
              <a:t>生命恢复 30⭐ ｜ 护盾 45⭐ ｜ 速度提升 30⭐ ｜ 双倍伤害 60⭐ ｜ 星星磁铁 40⭐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303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94560"/>
                </a:solidFill>
                <a:latin typeface="微软雅黑"/>
              </a:rPr>
              <a:t>03 / 核心功能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7772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8EBF2"/>
                </a:solidFill>
                <a:latin typeface="微软雅黑"/>
              </a:rPr>
              <a:t>皮肤系统：6 款皮肤，4 个稀有度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4358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>
                <a:solidFill>
                  <a:srgbClr val="98A2B8"/>
                </a:solidFill>
                <a:latin typeface="微软雅黑"/>
              </a:rPr>
              <a:t>全部用 Canvas 程序化绘制（零美术图片资源），商店卡片是实时渲染的动图，不是静态图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783080"/>
            <a:ext cx="1673352" cy="2880360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783080"/>
            <a:ext cx="1673352" cy="45720"/>
          </a:xfrm>
          <a:prstGeom prst="rect">
            <a:avLst/>
          </a:prstGeom>
          <a:solidFill>
            <a:srgbClr val="8F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kin-1-defa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" y="2103120"/>
            <a:ext cx="1453896" cy="14538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69264" y="3840480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E8EBF2"/>
                </a:solidFill>
                <a:latin typeface="微软雅黑"/>
              </a:rPr>
              <a:t>制式战士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4114800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8FA3B8"/>
                </a:solidFill>
                <a:latin typeface="微软雅黑"/>
              </a:rPr>
              <a:t>普通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9264" y="4334256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B7488"/>
                </a:solidFill>
                <a:latin typeface="微软雅黑"/>
              </a:rPr>
              <a:t>免费 / 静态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42616" y="1783080"/>
            <a:ext cx="1673352" cy="2880360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42616" y="1783080"/>
            <a:ext cx="1673352" cy="4572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kin-2-fl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344" y="2103120"/>
            <a:ext cx="1453896" cy="145389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70632" y="3840480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E8EBF2"/>
                </a:solidFill>
                <a:latin typeface="微软雅黑"/>
              </a:rPr>
              <a:t>烈焰使者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0632" y="4114800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4FC3F7"/>
                </a:solidFill>
                <a:latin typeface="微软雅黑"/>
              </a:rPr>
              <a:t>稀有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0632" y="4334256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B7488"/>
                </a:solidFill>
                <a:latin typeface="微软雅黑"/>
              </a:rPr>
              <a:t>60💎 / 呼吸旋转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43984" y="1783080"/>
            <a:ext cx="1673352" cy="2880360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43984" y="1783080"/>
            <a:ext cx="1673352" cy="4572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kin-3-shad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3712" y="2103120"/>
            <a:ext cx="1453896" cy="14538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4572000" y="3840480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E8EBF2"/>
                </a:solidFill>
                <a:latin typeface="微软雅黑"/>
              </a:rPr>
              <a:t>暗影刺客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114800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4FC3F7"/>
                </a:solidFill>
                <a:latin typeface="微软雅黑"/>
              </a:rPr>
              <a:t>稀有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334256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B7488"/>
                </a:solidFill>
                <a:latin typeface="微软雅黑"/>
              </a:rPr>
              <a:t>60💎 / 残影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45352" y="1783080"/>
            <a:ext cx="1673352" cy="2880360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5352" y="1783080"/>
            <a:ext cx="1673352" cy="4572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skin-4-ne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2103120"/>
            <a:ext cx="1453896" cy="145389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373368" y="3840480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E8EBF2"/>
                </a:solidFill>
                <a:latin typeface="微软雅黑"/>
              </a:rPr>
              <a:t>霓虹战士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3368" y="4114800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C77DFF"/>
                </a:solidFill>
                <a:latin typeface="微软雅黑"/>
              </a:rPr>
              <a:t>史诗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73368" y="4334256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B7488"/>
                </a:solidFill>
                <a:latin typeface="微软雅黑"/>
              </a:rPr>
              <a:t>90💎 / 发光扫描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1783080"/>
            <a:ext cx="1673352" cy="2880360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46720" y="1783080"/>
            <a:ext cx="1673352" cy="45720"/>
          </a:xfrm>
          <a:prstGeom prst="rect">
            <a:avLst/>
          </a:prstGeom>
          <a:solidFill>
            <a:srgbClr val="C77D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kin-5-gol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6448" y="2103120"/>
            <a:ext cx="1453896" cy="145389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8174736" y="3840480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E8EBF2"/>
                </a:solidFill>
                <a:latin typeface="微软雅黑"/>
              </a:rPr>
              <a:t>黄金骑士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74736" y="4114800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C77DFF"/>
                </a:solidFill>
                <a:latin typeface="微软雅黑"/>
              </a:rPr>
              <a:t>史诗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74736" y="4334256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B7488"/>
                </a:solidFill>
                <a:latin typeface="微软雅黑"/>
              </a:rPr>
              <a:t>120💎 / 旋转高光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848088" y="1783080"/>
            <a:ext cx="1673352" cy="2880360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848088" y="1783080"/>
            <a:ext cx="1673352" cy="45720"/>
          </a:xfrm>
          <a:prstGeom prst="rect">
            <a:avLst/>
          </a:prstGeom>
          <a:solidFill>
            <a:srgbClr val="FFB7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skin-6-voi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7816" y="2103120"/>
            <a:ext cx="1453896" cy="145389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976104" y="3840480"/>
            <a:ext cx="14173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E8EBF2"/>
                </a:solidFill>
                <a:latin typeface="微软雅黑"/>
              </a:rPr>
              <a:t>虚空领主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76104" y="4114800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FFB703"/>
                </a:solidFill>
                <a:latin typeface="微软雅黑"/>
              </a:rPr>
              <a:t>传说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76104" y="4334256"/>
            <a:ext cx="1417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6B7488"/>
                </a:solidFill>
                <a:latin typeface="微软雅黑"/>
              </a:rPr>
              <a:t>200💎 / 全套动效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41248" y="4846320"/>
            <a:ext cx="10515600" cy="1417320"/>
          </a:xfrm>
          <a:prstGeom prst="roundRect">
            <a:avLst>
              <a:gd name="adj" fmla="val 4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5010912"/>
            <a:ext cx="996696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300" b="1">
                <a:solidFill>
                  <a:srgbClr val="FF6B8A"/>
                </a:solidFill>
                <a:latin typeface="微软雅黑"/>
              </a:rPr>
              <a:t>为什么这么设计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价格严格对齐「动效密度」——多花一档的钱，确实多买到一层动态（稀有度越高，动效越多）。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这既让加价变得可解释，也给了玩家升级的理由。另外每套皮肤都先保证「一眼能认出自己」，再叠加主题装饰。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303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94560"/>
                </a:solidFill>
                <a:latin typeface="微软雅黑"/>
              </a:rPr>
              <a:t>03 / 核心功能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7772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8EBF2"/>
                </a:solidFill>
                <a:latin typeface="微软雅黑"/>
              </a:rPr>
              <a:t>好友复活：死了发个链接，朋友把你捞回来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4358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>
                <a:solidFill>
                  <a:srgbClr val="98A2B8"/>
                </a:solidFill>
                <a:latin typeface="微软雅黑"/>
              </a:rPr>
              <a:t>游戏最有意思的机制 —— 把「死亡」从挫败点变成了社交点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783080"/>
            <a:ext cx="4937760" cy="4297680"/>
          </a:xfrm>
          <a:prstGeom prst="roundRect">
            <a:avLst>
              <a:gd name="adj" fmla="val 3000"/>
            </a:avLst>
          </a:prstGeom>
          <a:solidFill>
            <a:srgbClr val="1C2130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1-rev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600410"/>
            <a:ext cx="4736592" cy="266301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35040" y="182880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6B8A"/>
                </a:solidFill>
                <a:latin typeface="微软雅黑"/>
              </a:rPr>
              <a:t>怎么运作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2240280"/>
            <a:ext cx="53035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① 阵亡后生成一条专属分享链接（含唯一标识）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② 发给好友，好友点开进游戏 → 云端自动记录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③ 核验通过 → 你满血复活 + 3 秒无敌护盾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④ 双方都有奖励：各 +50 🪙 金币 +5 💎 钻石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8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150" b="1">
                <a:solidFill>
                  <a:srgbClr val="34D399"/>
                </a:solidFill>
                <a:latin typeface="微软雅黑"/>
              </a:rPr>
              <a:t>跨设备互通：好友在电脑、你在手机，照样救得回来。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5040" y="4206240"/>
            <a:ext cx="5303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6B8A"/>
                </a:solidFill>
                <a:latin typeface="微软雅黑"/>
              </a:rPr>
              <a:t>三种防刷设计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4617720"/>
            <a:ext cx="5303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· 设备 ID：同一浏览器设备不重复计数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· 账号哈希：同账号跨设备也算同一人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· 本地历史：记录已使用的复活来源</a:t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8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32000"/>
              </a:lnSpc>
              <a:spcAft>
                <a:spcPts val="300"/>
              </a:spcAft>
            </a:pPr>
            <a:r>
              <a:rPr sz="1100" b="0">
                <a:solidFill>
                  <a:srgbClr val="6B7488"/>
                </a:solidFill>
                <a:latin typeface="微软雅黑"/>
              </a:rPr>
              <a:t>另有 3 种复活方式：看广告（免费）/ 复活令牌 / 花钻石，每种每局限用一次。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303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94560"/>
                </a:solidFill>
                <a:latin typeface="微软雅黑"/>
              </a:rPr>
              <a:t>03 / 核心功能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7772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8EBF2"/>
                </a:solidFill>
                <a:latin typeface="微软雅黑"/>
              </a:rPr>
              <a:t>成长与竞争：段位、成就、每日挑战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737360"/>
            <a:ext cx="5120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FF6B8A"/>
                </a:solidFill>
                <a:latin typeface="微软雅黑"/>
              </a:rPr>
              <a:t>5 大段位（按最高波次解锁）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2121408"/>
            <a:ext cx="4937760" cy="384048"/>
          </a:xfrm>
          <a:prstGeom prst="rect">
            <a:avLst/>
          </a:prstGeom>
          <a:solidFill>
            <a:srgbClr val="1C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121408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6B7488"/>
                </a:solidFill>
                <a:latin typeface="微软雅黑"/>
              </a:rPr>
              <a:t>段位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121408"/>
            <a:ext cx="23774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6B7488"/>
                </a:solidFill>
                <a:latin typeface="微软雅黑"/>
              </a:rPr>
              <a:t>解锁条件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2505456"/>
            <a:ext cx="4937760" cy="475488"/>
          </a:xfrm>
          <a:prstGeom prst="rect">
            <a:avLst/>
          </a:prstGeom>
          <a:solidFill>
            <a:srgbClr val="16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505456"/>
            <a:ext cx="25603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EBF2"/>
                </a:solidFill>
                <a:latin typeface="微软雅黑"/>
              </a:rPr>
              <a:t>🥉 青铜战士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505456"/>
            <a:ext cx="23774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默认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2980944"/>
            <a:ext cx="4937760" cy="475488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2980944"/>
            <a:ext cx="25603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EBF2"/>
                </a:solidFill>
                <a:latin typeface="微软雅黑"/>
              </a:rPr>
              <a:t>🥈 白银骑士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980944"/>
            <a:ext cx="23774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到达第 5 波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3456432"/>
            <a:ext cx="4937760" cy="475488"/>
          </a:xfrm>
          <a:prstGeom prst="rect">
            <a:avLst/>
          </a:prstGeom>
          <a:solidFill>
            <a:srgbClr val="16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456432"/>
            <a:ext cx="25603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EBF2"/>
                </a:solidFill>
                <a:latin typeface="微软雅黑"/>
              </a:rPr>
              <a:t>🥇 黄金勇士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456432"/>
            <a:ext cx="23774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到达第 10 波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1248" y="3931920"/>
            <a:ext cx="4937760" cy="475488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931920"/>
            <a:ext cx="25603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EBF2"/>
                </a:solidFill>
                <a:latin typeface="微软雅黑"/>
              </a:rPr>
              <a:t>💎 钻石英雄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931920"/>
            <a:ext cx="23774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到达第 15 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" y="4407408"/>
            <a:ext cx="4937760" cy="475488"/>
          </a:xfrm>
          <a:prstGeom prst="rect">
            <a:avLst/>
          </a:prstGeom>
          <a:solidFill>
            <a:srgbClr val="16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4407408"/>
            <a:ext cx="25603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EBF2"/>
                </a:solidFill>
                <a:latin typeface="微软雅黑"/>
              </a:rPr>
              <a:t>👑 传说至尊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407408"/>
            <a:ext cx="23774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到达第 20 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173736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FF6B8A"/>
                </a:solidFill>
                <a:latin typeface="微软雅黑"/>
              </a:rPr>
              <a:t>长期目标体系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2148840"/>
            <a:ext cx="53035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1">
                <a:solidFill>
                  <a:srgbClr val="E8EBF2"/>
                </a:solidFill>
                <a:latin typeface="微软雅黑"/>
              </a:rPr>
              <a:t>🏅 12 项成就徽章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累计击杀 / 到达波次 / 连杀 / 单局得分 / 武器收集 / 连续签到六类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7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1">
                <a:solidFill>
                  <a:srgbClr val="E8EBF2"/>
                </a:solidFill>
                <a:latin typeface="微软雅黑"/>
              </a:rPr>
              <a:t>🎯 每日挑战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按你的水平自动生成分数目标，达成领金币和钻石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7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1">
                <a:solidFill>
                  <a:srgbClr val="E8EBF2"/>
                </a:solidFill>
                <a:latin typeface="微软雅黑"/>
              </a:rPr>
              <a:t>📅 7 天连续签到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第 7 天送大礼包：500 金币 + 5 钻石 + 复活令牌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7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00" b="1">
                <a:solidFill>
                  <a:srgbClr val="E8EBF2"/>
                </a:solidFill>
                <a:latin typeface="微软雅黑"/>
              </a:rPr>
              <a:t>📜 战绩记录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个人最高分 / 最高波次 / 总击杀，Top 20 历史排行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" y="4892040"/>
            <a:ext cx="4937760" cy="1280160"/>
          </a:xfrm>
          <a:prstGeom prst="roundRect">
            <a:avLst>
              <a:gd name="adj" fmla="val 3000"/>
            </a:avLst>
          </a:prstGeom>
          <a:solidFill>
            <a:srgbClr val="1C2130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06-ra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626" y="4965192"/>
            <a:ext cx="2033003" cy="114300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035040" y="4892040"/>
            <a:ext cx="5303520" cy="1280160"/>
          </a:xfrm>
          <a:prstGeom prst="roundRect">
            <a:avLst>
              <a:gd name="adj" fmla="val 3000"/>
            </a:avLst>
          </a:prstGeom>
          <a:solidFill>
            <a:srgbClr val="1C2130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04-da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0298" y="4965192"/>
            <a:ext cx="2033003" cy="114300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41248" y="626364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B7488"/>
                </a:solidFill>
                <a:latin typeface="微软雅黑"/>
              </a:rPr>
              <a:t>左：排行榜（段位 / 战绩 / 成就墙 / 每日挑战）　　右：每日奖励（7 天签到网格）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303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94560"/>
                </a:solidFill>
                <a:latin typeface="微软雅黑"/>
              </a:rPr>
              <a:t>04 / 快速上手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7772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8EBF2"/>
                </a:solidFill>
                <a:latin typeface="微软雅黑"/>
              </a:rPr>
              <a:t>操作方式与手机适配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737360"/>
            <a:ext cx="5120640" cy="2286000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01952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E8EBF2"/>
                </a:solidFill>
                <a:latin typeface="微软雅黑"/>
              </a:rPr>
              <a:t>💻 电脑端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86000"/>
            <a:ext cx="45720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移动　W A S D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瞄准　鼠标（360° 自由瞄准）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射击　鼠标左键（可购买自动射击）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闪避　空格（2 秒冷却）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暂停　ESC（打开商店 / 升级）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737360"/>
            <a:ext cx="5120640" cy="2286000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01952"/>
            <a:ext cx="45720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E8EBF2"/>
                </a:solidFill>
                <a:latin typeface="微软雅黑"/>
              </a:rPr>
              <a:t>📱 手机端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286000"/>
            <a:ext cx="457200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移动　左侧虚拟摇杆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瞄准　右侧射击键 + 触控瞄准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闪避　滑动手势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换枪　右下角切换按钮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暂停　右上角暂停键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224528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50" b="1">
                <a:solidFill>
                  <a:srgbClr val="FF6B8A"/>
                </a:solidFill>
                <a:latin typeface="微软雅黑"/>
              </a:rPr>
              <a:t>手机不是「能打开」，是「玩得爽」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617720"/>
            <a:ext cx="105156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· 虚拟摇杆 + 触控瞄准，符合手游操作习惯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· 滑动手势闪避，不用在屏幕上找按钮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· 竖屏自动提示旋转到横屏，获得最佳体验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· 刘海屏安全区适配，全面屏手机上按钮不会被遮挡</a:t>
            </a:r>
          </a:p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· 移动端自动降低特效开销，优先保住帧率流畅度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303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94560"/>
                </a:solidFill>
                <a:latin typeface="微软雅黑"/>
              </a:rPr>
              <a:t>05 / 开发与技术复盘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7772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8EBF2"/>
                </a:solidFill>
                <a:latin typeface="微软雅黑"/>
              </a:rPr>
              <a:t>一个人从零写完的完整游戏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243584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1250" b="0">
                <a:solidFill>
                  <a:srgbClr val="98A2B8"/>
                </a:solidFill>
                <a:latin typeface="微软雅黑"/>
              </a:rPr>
              <a:t>没有用任何游戏引擎、没有任何美术素材——碰撞检测、粒子特效、波次系统、BOSS 战、武器升级树、移动端触控全部手写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1783080"/>
            <a:ext cx="3392424" cy="1280160"/>
          </a:xfrm>
          <a:prstGeom prst="roundRect">
            <a:avLst>
              <a:gd name="adj" fmla="val 6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41248" y="1783080"/>
            <a:ext cx="3392424" cy="411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993392"/>
            <a:ext cx="29352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E8EBF2"/>
                </a:solidFill>
                <a:latin typeface="微软雅黑"/>
              </a:rPr>
              <a:t>8,600+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2487168"/>
            <a:ext cx="2935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行手写代码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2743200"/>
            <a:ext cx="29352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B7488"/>
                </a:solidFill>
                <a:latin typeface="微软雅黑"/>
              </a:rPr>
              <a:t>JS + CSS + HTML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783080"/>
            <a:ext cx="3392424" cy="1280160"/>
          </a:xfrm>
          <a:prstGeom prst="roundRect">
            <a:avLst>
              <a:gd name="adj" fmla="val 6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783080"/>
            <a:ext cx="3392424" cy="411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45152" y="1993392"/>
            <a:ext cx="29352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E8EBF2"/>
                </a:solidFill>
                <a:latin typeface="微软雅黑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2487168"/>
            <a:ext cx="2935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第三方框架 / 引擎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2" y="2743200"/>
            <a:ext cx="29352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B7488"/>
                </a:solidFill>
                <a:latin typeface="微软雅黑"/>
              </a:rPr>
              <a:t>纯 Vanilla JS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73568" y="1783080"/>
            <a:ext cx="3392424" cy="1280160"/>
          </a:xfrm>
          <a:prstGeom prst="roundRect">
            <a:avLst>
              <a:gd name="adj" fmla="val 6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73568" y="1783080"/>
            <a:ext cx="3392424" cy="411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11312" y="1993392"/>
            <a:ext cx="29352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1">
                <a:solidFill>
                  <a:srgbClr val="E8EBF2"/>
                </a:solidFill>
                <a:latin typeface="微软雅黑"/>
              </a:rPr>
              <a:t>60 fps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2487168"/>
            <a:ext cx="293522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98A2B8"/>
                </a:solidFill>
                <a:latin typeface="微软雅黑"/>
              </a:rPr>
              <a:t>移动端实测帧率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11312" y="2743200"/>
            <a:ext cx="293522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6B7488"/>
                </a:solidFill>
                <a:latin typeface="微软雅黑"/>
              </a:rPr>
              <a:t>最重特效皮肤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" y="3310128"/>
            <a:ext cx="10515600" cy="384048"/>
          </a:xfrm>
          <a:prstGeom prst="rect">
            <a:avLst/>
          </a:prstGeom>
          <a:solidFill>
            <a:srgbClr val="1C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310128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6B7488"/>
                </a:solidFill>
                <a:latin typeface="微软雅黑"/>
              </a:rPr>
              <a:t>技术点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3310128"/>
            <a:ext cx="5120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6B7488"/>
                </a:solidFill>
                <a:latin typeface="微软雅黑"/>
              </a:rPr>
              <a:t>实现方式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310128"/>
            <a:ext cx="3840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6B7488"/>
                </a:solidFill>
                <a:latin typeface="微软雅黑"/>
              </a:rPr>
              <a:t>为什么这么做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" y="3694176"/>
            <a:ext cx="10515600" cy="384048"/>
          </a:xfrm>
          <a:prstGeom prst="rect">
            <a:avLst/>
          </a:prstGeom>
          <a:solidFill>
            <a:srgbClr val="16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3694176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E8EBF2"/>
                </a:solidFill>
                <a:latin typeface="微软雅黑"/>
              </a:rPr>
              <a:t>渲染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3694176"/>
            <a:ext cx="5120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8A2B8"/>
                </a:solidFill>
                <a:latin typeface="微软雅黑"/>
              </a:rPr>
              <a:t>Canvas 2D + requestAnimationFrame 自研游戏循环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0" y="3694176"/>
            <a:ext cx="3840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8A2B8"/>
                </a:solidFill>
                <a:latin typeface="微软雅黑"/>
              </a:rPr>
              <a:t>零依赖，任何浏览器直接跑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" y="4078224"/>
            <a:ext cx="10515600" cy="384048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078224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E8EBF2"/>
                </a:solidFill>
                <a:latin typeface="微软雅黑"/>
              </a:rPr>
              <a:t>框架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4078224"/>
            <a:ext cx="5120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8A2B8"/>
                </a:solidFill>
                <a:latin typeface="微软雅黑"/>
              </a:rPr>
              <a:t>纯 Vanilla JS（无 React / Vue / jQuery）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0" y="4078224"/>
            <a:ext cx="3840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8A2B8"/>
                </a:solidFill>
                <a:latin typeface="微软雅黑"/>
              </a:rPr>
              <a:t>游戏状态高频变更，虚拟 DOM 反成负担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1248" y="4462272"/>
            <a:ext cx="10515600" cy="384048"/>
          </a:xfrm>
          <a:prstGeom prst="rect">
            <a:avLst/>
          </a:prstGeom>
          <a:solidFill>
            <a:srgbClr val="16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05840" y="4462272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E8EBF2"/>
                </a:solidFill>
                <a:latin typeface="微软雅黑"/>
              </a:rPr>
              <a:t>后端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4462272"/>
            <a:ext cx="5120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8A2B8"/>
                </a:solidFill>
                <a:latin typeface="微软雅黑"/>
              </a:rPr>
              <a:t>Supabase REST API 直连（未装 SDK）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80960" y="4462272"/>
            <a:ext cx="3840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8A2B8"/>
                </a:solidFill>
                <a:latin typeface="微软雅黑"/>
              </a:rPr>
              <a:t>好友复活需跨设备同步，不想引依赖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" y="4846320"/>
            <a:ext cx="10515600" cy="384048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4846320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E8EBF2"/>
                </a:solidFill>
                <a:latin typeface="微软雅黑"/>
              </a:rPr>
              <a:t>数据埋点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0320" y="4846320"/>
            <a:ext cx="5120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8A2B8"/>
                </a:solidFill>
                <a:latin typeface="微软雅黑"/>
              </a:rPr>
              <a:t>客户端事件采集 → 批量上报 → 实时看板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80960" y="4846320"/>
            <a:ext cx="3840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8A2B8"/>
                </a:solidFill>
                <a:latin typeface="微软雅黑"/>
              </a:rPr>
              <a:t>用真实数据驱动决策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1248" y="5230368"/>
            <a:ext cx="10515600" cy="384048"/>
          </a:xfrm>
          <a:prstGeom prst="rect">
            <a:avLst/>
          </a:prstGeom>
          <a:solidFill>
            <a:srgbClr val="16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5230368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E8EBF2"/>
                </a:solidFill>
                <a:latin typeface="微软雅黑"/>
              </a:rPr>
              <a:t>皮肤美术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0320" y="5230368"/>
            <a:ext cx="5120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8A2B8"/>
                </a:solidFill>
                <a:latin typeface="微软雅黑"/>
              </a:rPr>
              <a:t>全部程序化 Canvas 绘制（零图片资源）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80960" y="5230368"/>
            <a:ext cx="3840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8A2B8"/>
                </a:solidFill>
                <a:latin typeface="微软雅黑"/>
              </a:rPr>
              <a:t>没有美术，用代码反而更系统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1248" y="5614416"/>
            <a:ext cx="10515600" cy="384048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5614416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E8EBF2"/>
                </a:solidFill>
                <a:latin typeface="微软雅黑"/>
              </a:rPr>
              <a:t>移动端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560320" y="5614416"/>
            <a:ext cx="5120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8A2B8"/>
                </a:solidFill>
                <a:latin typeface="微软雅黑"/>
              </a:rPr>
              <a:t>虚拟摇杆 + 触控手势 + 性能自动降级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0" y="5614416"/>
            <a:ext cx="3840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8A2B8"/>
                </a:solidFill>
                <a:latin typeface="微软雅黑"/>
              </a:rPr>
              <a:t>手游用户占三分之一，必须真能玩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1248" y="5998464"/>
            <a:ext cx="10515600" cy="384048"/>
          </a:xfrm>
          <a:prstGeom prst="rect">
            <a:avLst/>
          </a:prstGeom>
          <a:solidFill>
            <a:srgbClr val="16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05840" y="5998464"/>
            <a:ext cx="1554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E8EBF2"/>
                </a:solidFill>
                <a:latin typeface="微软雅黑"/>
              </a:rPr>
              <a:t>离线可用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60320" y="5998464"/>
            <a:ext cx="51206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8A2B8"/>
                </a:solidFill>
                <a:latin typeface="微软雅黑"/>
              </a:rPr>
              <a:t>Service Worker 缓存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80960" y="5998464"/>
            <a:ext cx="3840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98A2B8"/>
                </a:solidFill>
                <a:latin typeface="微软雅黑"/>
              </a:rPr>
              <a:t>网络差时也能加载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303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94560"/>
                </a:solidFill>
                <a:latin typeface="微软雅黑"/>
              </a:rPr>
              <a:t>05 / 开发与技术复盘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7772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8EBF2"/>
                </a:solidFill>
                <a:latin typeface="微软雅黑"/>
              </a:rPr>
              <a:t>用真实数据说话 &amp; 踩过的坑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737360"/>
            <a:ext cx="5120640" cy="4480560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2A31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F6B8A"/>
                </a:solidFill>
                <a:latin typeface="微软雅黑"/>
              </a:rPr>
              <a:t>做了完整的数据埋点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331720"/>
            <a:ext cx="457200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所有关键行为（开局 / 死亡 / 复活 / 广告 / 购买 / 签到 / 成就）都在客户端埋点，落到 Supabase 后在看板实时聚合。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8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1">
                <a:solidFill>
                  <a:srgbClr val="E8EBF2"/>
                </a:solidFill>
                <a:latin typeface="微软雅黑"/>
              </a:rPr>
              <a:t>实测数据：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· 累计 1,996 条埋点事件，覆盖 24 个活跃日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· 累计 133 局对局、56 次复活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· 商店购买中 71% 是皮肤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· 移动端事件占 35%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8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1">
                <a:solidFill>
                  <a:srgbClr val="34D399"/>
                </a:solidFill>
                <a:latin typeface="微软雅黑"/>
              </a:rPr>
              <a:t>数据驱动的一个例子：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数据显示 92% 的开局都用手枪（免费初始武器），说明多数玩家还没打到能解锁新武器的波次就阵亡了——这直接指向「前期难度偏高 / 武器解锁门槛偏贵」的调优方向。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6208" y="1737360"/>
            <a:ext cx="5120640" cy="4480560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92024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>
                <a:solidFill>
                  <a:srgbClr val="FBBF24"/>
                </a:solidFill>
                <a:latin typeface="微软雅黑"/>
              </a:rPr>
              <a:t>过程中踩过的坑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331720"/>
            <a:ext cx="4572000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1">
                <a:solidFill>
                  <a:srgbClr val="E8EBF2"/>
                </a:solidFill>
                <a:latin typeface="微软雅黑"/>
              </a:rPr>
              <a:t>① 好友复活怎么跨设备？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换设备后身份标识不一样，最初救不回来。解法：登录时额外生成一个由账号派生的跨设备标识，复活令牌同时投递给两条身份，任一命中即成功。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7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1">
                <a:solidFill>
                  <a:srgbClr val="E8EBF2"/>
                </a:solidFill>
                <a:latin typeface="微软雅黑"/>
              </a:rPr>
              <a:t>② 数据库权限把功能卡死了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建表向导默认只给「已登录」角色写权限，但客户端用的是匿名密钥，导致写入被拒。解法：显式给匿名角色授予最小必要权限。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7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1">
                <a:solidFill>
                  <a:srgbClr val="E8EBF2"/>
                </a:solidFill>
                <a:latin typeface="微软雅黑"/>
              </a:rPr>
              <a:t>③ 暗色皮肤在暗背景上看不见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「暗影刺客」名字要求它暗，但战场本身是近黑色。解法：不靠填充色表达存在感，改用发光描边与光点。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700" b="0">
                <a:solidFill>
                  <a:srgbClr val="98A2B8"/>
                </a:solidFill>
                <a:latin typeface="微软雅黑"/>
              </a:rPr>
              <a:t/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50" b="1">
                <a:solidFill>
                  <a:srgbClr val="E8EBF2"/>
                </a:solidFill>
                <a:latin typeface="微软雅黑"/>
              </a:rPr>
              <a:t>④ 敌人围攻时玩家被淹没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050" b="0">
                <a:solidFill>
                  <a:srgbClr val="98A2B8"/>
                </a:solidFill>
                <a:latin typeface="微软雅黑"/>
              </a:rPr>
              <a:t>实测截图里角色只剩一团红。解法：给玩家加一层深色底衬，保证剪影永远可辨。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54864" cy="384048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41248" y="530352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1">
                <a:solidFill>
                  <a:srgbClr val="E94560"/>
                </a:solidFill>
                <a:latin typeface="微软雅黑"/>
              </a:rPr>
              <a:t>05 / 开发与技术复盘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7772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>
                <a:solidFill>
                  <a:srgbClr val="E8EBF2"/>
                </a:solidFill>
                <a:latin typeface="微软雅黑"/>
              </a:rPr>
              <a:t>项目结构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783080"/>
            <a:ext cx="10515600" cy="384048"/>
          </a:xfrm>
          <a:prstGeom prst="rect">
            <a:avLst/>
          </a:prstGeom>
          <a:solidFill>
            <a:srgbClr val="1C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25603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6B7488"/>
                </a:solidFill>
                <a:latin typeface="微软雅黑"/>
              </a:rPr>
              <a:t>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783080"/>
            <a:ext cx="6309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6B7488"/>
                </a:solidFill>
                <a:latin typeface="微软雅黑"/>
              </a:rPr>
              <a:t>内容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1783080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6B7488"/>
                </a:solidFill>
                <a:latin typeface="微软雅黑"/>
              </a:rPr>
              <a:t>规模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2167128"/>
            <a:ext cx="10515600" cy="548640"/>
          </a:xfrm>
          <a:prstGeom prst="rect">
            <a:avLst/>
          </a:prstGeom>
          <a:solidFill>
            <a:srgbClr val="16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67128"/>
            <a:ext cx="2560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EBF2"/>
                </a:solidFill>
                <a:latin typeface="微软雅黑"/>
              </a:rPr>
              <a:t>js/game.js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167128"/>
            <a:ext cx="6309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游戏引擎：实体系统、游戏循环、波次、BOSS、商店、UI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0" y="2167128"/>
            <a:ext cx="1645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~4,770 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" y="2715768"/>
            <a:ext cx="10515600" cy="54864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2715768"/>
            <a:ext cx="2560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EBF2"/>
                </a:solidFill>
                <a:latin typeface="微软雅黑"/>
              </a:rPr>
              <a:t>js/skins.js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715768"/>
            <a:ext cx="6309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皮肤程序化渲染引擎（6 套皮肤 + 分层绘制）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0" y="2715768"/>
            <a:ext cx="1645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~460 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3264408"/>
            <a:ext cx="10515600" cy="548640"/>
          </a:xfrm>
          <a:prstGeom prst="rect">
            <a:avLst/>
          </a:prstGeom>
          <a:solidFill>
            <a:srgbClr val="16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264408"/>
            <a:ext cx="2560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EBF2"/>
                </a:solidFill>
                <a:latin typeface="微软雅黑"/>
              </a:rPr>
              <a:t>css/style.css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264408"/>
            <a:ext cx="6309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全部样式 + 响应式 + 触控布局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3264408"/>
            <a:ext cx="1645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~1,940 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1248" y="3813048"/>
            <a:ext cx="10515600" cy="54864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813048"/>
            <a:ext cx="2560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EBF2"/>
                </a:solidFill>
                <a:latin typeface="微软雅黑"/>
              </a:rPr>
              <a:t>js/supabase-db.js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813048"/>
            <a:ext cx="6309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Supabase REST 封装（好友复活跨设备同步）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3813048"/>
            <a:ext cx="1645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~190 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1248" y="4361688"/>
            <a:ext cx="10515600" cy="548640"/>
          </a:xfrm>
          <a:prstGeom prst="rect">
            <a:avLst/>
          </a:prstGeom>
          <a:solidFill>
            <a:srgbClr val="161A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" y="4361688"/>
            <a:ext cx="2560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EBF2"/>
                </a:solidFill>
                <a:latin typeface="微软雅黑"/>
              </a:rPr>
              <a:t>js/analytics.js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361688"/>
            <a:ext cx="6309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事件埋点与批量上报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0" y="4361688"/>
            <a:ext cx="1645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~190 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" y="4910328"/>
            <a:ext cx="10515600" cy="54864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5840" y="4910328"/>
            <a:ext cx="25603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E8EBF2"/>
                </a:solidFill>
                <a:latin typeface="微软雅黑"/>
              </a:rPr>
              <a:t>dashboard.html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910328"/>
            <a:ext cx="6309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独立数据看板（实时读取线上数据）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75520" y="4910328"/>
            <a:ext cx="16459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~430 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41248" y="5349240"/>
            <a:ext cx="10515600" cy="1005840"/>
          </a:xfrm>
          <a:prstGeom prst="roundRect">
            <a:avLst>
              <a:gd name="adj" fmla="val 5000"/>
            </a:avLst>
          </a:prstGeom>
          <a:solidFill>
            <a:srgbClr val="161A26"/>
          </a:solidFill>
          <a:ln w="952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5504688"/>
            <a:ext cx="99669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250" b="1">
                <a:solidFill>
                  <a:srgbClr val="FBBF24"/>
                </a:solidFill>
                <a:latin typeface="微软雅黑"/>
              </a:rPr>
              <a:t>诚实的边界：</a:t>
            </a:r>
            <a:r>
              <a:rPr sz="1100" b="0">
                <a:solidFill>
                  <a:srgbClr val="98A2B8"/>
                </a:solidFill>
                <a:latin typeface="微软雅黑"/>
              </a:rPr>
              <a:t>皮肤购买目前仍是模拟流程（点确认即到账），未接入真实支付网关；</a:t>
            </a:r>
          </a:p>
          <a:p>
            <a:pPr algn="l">
              <a:lnSpc>
                <a:spcPct val="130000"/>
              </a:lnSpc>
              <a:spcAft>
                <a:spcPts val="200"/>
              </a:spcAft>
            </a:pPr>
            <a:r>
              <a:rPr sz="1100" b="0">
                <a:solidFill>
                  <a:srgbClr val="98A2B8"/>
                </a:solidFill>
                <a:latin typeface="微软雅黑"/>
              </a:rPr>
              <a:t>广告用的是 Monetag 真实广告位；数据看板里的「死亡波次分布」「场均时长」等指标包含开发与自动化测试期间的数据，不作为真实难度曲线引用。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E94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4200" b="1">
                <a:solidFill>
                  <a:srgbClr val="E8EBF2"/>
                </a:solidFill>
                <a:latin typeface="微软雅黑"/>
              </a:rPr>
              <a:t>不用下载，现在就能玩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7180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0">
                <a:solidFill>
                  <a:srgbClr val="FF6B8A"/>
                </a:solidFill>
                <a:latin typeface="微软雅黑"/>
              </a:rPr>
              <a:t>生存竞技场 Survival Arena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60000"/>
              </a:lnSpc>
              <a:spcAft>
                <a:spcPts val="0"/>
              </a:spcAft>
            </a:pPr>
            <a:r>
              <a:rPr sz="1500" b="1">
                <a:solidFill>
                  <a:srgbClr val="34D399"/>
                </a:solidFill>
                <a:latin typeface="微软雅黑"/>
              </a:rPr>
              <a:t>🎮 开始游玩：https://survival-arena.com/</a:t>
            </a:r>
          </a:p>
          <a:p>
            <a:pPr algn="ctr">
              <a:lnSpc>
                <a:spcPct val="160000"/>
              </a:lnSpc>
              <a:spcAft>
                <a:spcPts val="0"/>
              </a:spcAft>
            </a:pPr>
            <a:r>
              <a:rPr sz="1300" b="0">
                <a:solidFill>
                  <a:srgbClr val="98A2B8"/>
                </a:solidFill>
                <a:latin typeface="微软雅黑"/>
              </a:rPr>
              <a:t>📊 数据看板：https://survival-arena.com/dashboard.html</a:t>
            </a:r>
          </a:p>
          <a:p>
            <a:pPr algn="ctr">
              <a:lnSpc>
                <a:spcPct val="160000"/>
              </a:lnSpc>
              <a:spcAft>
                <a:spcPts val="0"/>
              </a:spcAft>
            </a:pPr>
            <a:r>
              <a:rPr sz="1300" b="0">
                <a:solidFill>
                  <a:srgbClr val="98A2B8"/>
                </a:solidFill>
                <a:latin typeface="微软雅黑"/>
              </a:rPr>
              <a:t>💻 开源代码：https://github.com/AAA-Geeker/Survival-Arena---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